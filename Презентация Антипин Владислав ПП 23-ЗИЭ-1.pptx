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EA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6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3A4B34-2AB1-4786-B9FB-E407DCA15D6C}" type="datetimeFigureOut">
              <a:rPr lang="ru-RU" smtClean="0"/>
              <a:t>30.03.2026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69195D-C30D-4BFC-8195-C61F787236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1486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9195D-C30D-4BFC-8195-C61F78723673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2827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E4A075-8835-3832-013F-CB7D52B6A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79F71E0-72CA-F4B5-B3D3-76E4A31EF3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807299C-E101-5F81-660C-8A2D99FC8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D150B-5429-46E8-887F-D9D7C83AD689}" type="datetimeFigureOut">
              <a:rPr lang="ru-RU" smtClean="0"/>
              <a:t>30.03.2026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7E0C6B-80E8-9743-8B45-F0893E87E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F8F4D0-59EF-8543-49E3-27B679CBC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0D3C6-4CB9-48A4-8053-683D92CAC7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4040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89B248-CE5C-C747-52FA-4EE82320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698505-A82C-FA65-6234-D93E6FD30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965D12-CDAC-40BF-695D-1A148FF13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D150B-5429-46E8-887F-D9D7C83AD689}" type="datetimeFigureOut">
              <a:rPr lang="ru-RU" smtClean="0"/>
              <a:t>30.03.2026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38CD6D2-A687-A0BE-C9A6-B837E576C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B8E5436-259B-0B5F-2A1C-10ABF524B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0D3C6-4CB9-48A4-8053-683D92CAC7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9291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B0C974-B9FE-EC9E-F2B1-B9025C6D3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DF8078D-6B5D-C98C-1EA0-48637F2EE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A59D75-F002-A0E7-8C23-A369274DB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D150B-5429-46E8-887F-D9D7C83AD689}" type="datetimeFigureOut">
              <a:rPr lang="ru-RU" smtClean="0"/>
              <a:t>30.03.2026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34EE7C-D0BF-75D6-D40C-A374BA043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4B9C41-500F-084A-A627-EFFFF8C23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0D3C6-4CB9-48A4-8053-683D92CAC7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9949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6FE515-3370-5B76-990A-DB0666DA0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E05EC0-2B3B-9EA5-18E1-DCBCA595CA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E6CAE5C-D0CD-B49A-1388-F93ADBBC53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2F87B38-BD98-CE9E-0852-475A7D54C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D150B-5429-46E8-887F-D9D7C83AD689}" type="datetimeFigureOut">
              <a:rPr lang="ru-RU" smtClean="0"/>
              <a:t>30.03.2026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494974F-8B4C-3A0F-4742-84D1B1E9C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7602DF7-1B52-6ECA-946B-5266B4EDF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0D3C6-4CB9-48A4-8053-683D92CAC7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4591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B8BBBF-BBA1-CAD4-EF0F-121B3BFF3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8A5F3A1-C6DC-120E-915D-F37CE4FEA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5CBEFC2-1F6D-94E0-BB84-D59DF2DDE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7A9F932-C467-11E9-A665-6FE57CE303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803830F-EE36-2289-D8D5-DC68B95A19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3B510A8-9C2B-3DCE-FDB4-3DBC98461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D150B-5429-46E8-887F-D9D7C83AD689}" type="datetimeFigureOut">
              <a:rPr lang="ru-RU" smtClean="0"/>
              <a:t>30.03.2026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4619387-6249-C8DE-2608-14EFC3CD4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A2FA7C1-E1D7-C42A-EE23-FACBB50A8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0D3C6-4CB9-48A4-8053-683D92CAC7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0953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9ABC39-EFE9-B734-CEB8-814110D54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38F78C3-6C40-7D66-7A8A-C97070F40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D150B-5429-46E8-887F-D9D7C83AD689}" type="datetimeFigureOut">
              <a:rPr lang="ru-RU" smtClean="0"/>
              <a:t>30.03.2026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D23BD7F-B7FC-593C-242F-8AD9BBF4D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E7629DA-A5A4-8C54-D026-4389E6D08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0D3C6-4CB9-48A4-8053-683D92CAC7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0304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F824228-F424-B3A3-AAF9-7EDFD39B6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D150B-5429-46E8-887F-D9D7C83AD689}" type="datetimeFigureOut">
              <a:rPr lang="ru-RU" smtClean="0"/>
              <a:t>30.03.2026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DB62540-3CCC-169B-2D36-3D6C7080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B446A0F-8B03-07A7-B228-3E71BBE67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0D3C6-4CB9-48A4-8053-683D92CAC7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2258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20CD48-7D3C-1311-1C04-C774CF393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E84662-448E-DFDC-D9FB-A3233AF07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010F880-CA8A-4F8C-67E3-78D7E6AC2E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F6961BE-95BB-FF40-DE5B-6D29C08E1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D150B-5429-46E8-887F-D9D7C83AD689}" type="datetimeFigureOut">
              <a:rPr lang="ru-RU" smtClean="0"/>
              <a:t>30.03.2026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6B6971A-243B-030E-B824-D6551018B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E6758C0-155C-14C9-7FF2-F475FF2AC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0D3C6-4CB9-48A4-8053-683D92CAC7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1152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1D7E43-EEAB-E04B-EE1F-2BA53860C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C793412-B6D6-876C-71DA-CD63F568A9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DFDD1DA-E626-390A-31C8-FCA5587B57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5AD464F-5326-F8E9-3940-AB643577D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D150B-5429-46E8-887F-D9D7C83AD689}" type="datetimeFigureOut">
              <a:rPr lang="ru-RU" smtClean="0"/>
              <a:t>30.03.2026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47D3DAC-01A3-31D5-4ECA-EAD51C894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BBC5673-CFDA-DBA5-4799-96478CFD6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0D3C6-4CB9-48A4-8053-683D92CAC7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7742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C7FD0A-A159-2ECC-83CD-85B548D28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1B88866-16C7-125A-DD96-26D74E4C0C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972D616-900A-5660-4648-C09FD5195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D150B-5429-46E8-887F-D9D7C83AD689}" type="datetimeFigureOut">
              <a:rPr lang="ru-RU" smtClean="0"/>
              <a:t>30.03.2026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C107AFD-2F73-6BC0-FA41-61377A224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18B13D-4C4B-EEBC-308C-4487DB81D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0D3C6-4CB9-48A4-8053-683D92CAC7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1317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CACA782-5F55-3534-370B-33FBE109BF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754FC89-A986-EB15-EB91-32342F536A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C7F1A39-B149-C6B3-5900-434F319F0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D150B-5429-46E8-887F-D9D7C83AD689}" type="datetimeFigureOut">
              <a:rPr lang="ru-RU" smtClean="0"/>
              <a:t>30.03.2026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6CDFC21-EBE0-96F7-5DD3-CF853E569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4CE34E-68DC-C406-3558-A421714E0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0D3C6-4CB9-48A4-8053-683D92CAC7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737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64053C-A38F-863E-280D-8E3C1B8E3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7E538A-F15E-BB74-CDCB-1D12CDB1C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C822BE5-ADDF-2BD0-57BE-9C47CBDD3C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D150B-5429-46E8-887F-D9D7C83AD689}" type="datetimeFigureOut">
              <a:rPr lang="ru-RU" smtClean="0"/>
              <a:t>30.03.2026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B4BCE8-EB88-D2D6-9CCB-9F8CF18328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0B268A-DABF-2735-8409-643199989C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C0D3C6-4CB9-48A4-8053-683D92CAC7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3552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iverbankcomputing.com/static/Docs/PyQt5/" TargetMode="External"/><Relationship Id="rId2" Type="http://schemas.openxmlformats.org/officeDocument/2006/relationships/hyperlink" Target="https://yandex.ru/dev/weather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9579DA-BB48-2BEF-D33D-9C690257D3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375" y="1418585"/>
            <a:ext cx="12065249" cy="1409559"/>
          </a:xfrm>
          <a:noFill/>
          <a:effectLst>
            <a:reflection blurRad="6350" stA="52000" endA="300" endPos="35000" dir="5400000" sy="-100000" algn="bl" rotWithShape="0"/>
          </a:effectLst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chemeClr val="bg1">
                    <a:lumMod val="95000"/>
                  </a:schemeClr>
                </a:solidFill>
                <a:latin typeface="Frutiger Neue LT W1G" panose="020B0603040304020203" pitchFamily="34" charset="0"/>
              </a:rPr>
              <a:t>Работа по дисциплине «Проектный практикум»</a:t>
            </a:r>
            <a:br>
              <a:rPr lang="ru-RU" sz="3600" dirty="0">
                <a:solidFill>
                  <a:schemeClr val="bg1">
                    <a:lumMod val="95000"/>
                  </a:schemeClr>
                </a:solidFill>
                <a:latin typeface="Frutiger Neue LT W1G" panose="020B0603040304020203" pitchFamily="34" charset="0"/>
              </a:rPr>
            </a:br>
            <a:r>
              <a:rPr lang="ru-RU" sz="3600" dirty="0">
                <a:solidFill>
                  <a:schemeClr val="bg1">
                    <a:lumMod val="95000"/>
                  </a:schemeClr>
                </a:solidFill>
                <a:latin typeface="Frutiger Neue LT W1G" panose="020B0603040304020203" pitchFamily="34" charset="0"/>
              </a:rPr>
              <a:t>Разработка программы отслеживания погоды «</a:t>
            </a:r>
            <a:r>
              <a:rPr lang="en-US" sz="3600" dirty="0" err="1">
                <a:solidFill>
                  <a:schemeClr val="bg1">
                    <a:lumMod val="95000"/>
                  </a:schemeClr>
                </a:solidFill>
                <a:latin typeface="Frutiger Neue LT W1G" panose="020B0603040304020203" pitchFamily="34" charset="0"/>
              </a:rPr>
              <a:t>WeatherReport</a:t>
            </a:r>
            <a:r>
              <a:rPr lang="ru-RU" sz="3600" dirty="0">
                <a:solidFill>
                  <a:schemeClr val="bg1">
                    <a:lumMod val="95000"/>
                  </a:schemeClr>
                </a:solidFill>
                <a:latin typeface="Frutiger Neue LT W1G" panose="020B0603040304020203" pitchFamily="34" charset="0"/>
              </a:rPr>
              <a:t>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D25AD1D-301C-A238-9BA3-616A0E896C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22247" y="3783653"/>
            <a:ext cx="3298479" cy="1655762"/>
          </a:xfrm>
          <a:gradFill>
            <a:gsLst>
              <a:gs pos="0">
                <a:schemeClr val="bg1"/>
              </a:gs>
              <a:gs pos="100000">
                <a:srgbClr val="92D050"/>
              </a:gs>
            </a:gsLst>
            <a:lin ang="5400000" scaled="1"/>
          </a:gradFill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soft" dir="t">
              <a:rot lat="0" lon="0" rev="0"/>
            </a:lightRig>
          </a:scene3d>
          <a:sp3d prstMaterial="translucentPowder">
            <a:bevelT w="203200" h="50800" prst="softRound"/>
          </a:sp3d>
        </p:spPr>
        <p:txBody>
          <a:bodyPr/>
          <a:lstStyle/>
          <a:p>
            <a:pPr algn="l"/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Frutiger Neue LT W1G" panose="020B0603040304020203" pitchFamily="34" charset="0"/>
              </a:rPr>
              <a:t>Работу выполнил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Frutiger Neue LT W1G" panose="020B0603040304020203" pitchFamily="34" charset="0"/>
              </a:rPr>
              <a:t>: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Frutiger Neue LT W1G" panose="020B0603040304020203" pitchFamily="34" charset="0"/>
              </a:rPr>
              <a:t> студент гр. 23-ЗИЭ-1 Антипин Владислав Денисович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22F555-2CA6-5EC6-6388-E25479883C7D}"/>
              </a:ext>
            </a:extLst>
          </p:cNvPr>
          <p:cNvSpPr txBox="1"/>
          <p:nvPr/>
        </p:nvSpPr>
        <p:spPr>
          <a:xfrm>
            <a:off x="63375" y="0"/>
            <a:ext cx="1212862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540385" algn="ctr"/>
            <a:r>
              <a:rPr lang="ru-RU" sz="1800" dirty="0">
                <a:solidFill>
                  <a:schemeClr val="bg1">
                    <a:lumMod val="95000"/>
                  </a:schemeClr>
                </a:solidFill>
                <a:effectLst/>
                <a:latin typeface="Frutiger Neue LT W1G" panose="020B0603040304020203" pitchFamily="34" charset="0"/>
                <a:ea typeface="Times New Roman" panose="02020603050405020304" pitchFamily="18" charset="0"/>
              </a:rPr>
              <a:t>Федеральное государственное бюджетное образовательное учреждение</a:t>
            </a:r>
          </a:p>
          <a:p>
            <a:pPr indent="540385" algn="ctr"/>
            <a:r>
              <a:rPr lang="ru-RU" sz="1800" dirty="0">
                <a:solidFill>
                  <a:schemeClr val="bg1">
                    <a:lumMod val="95000"/>
                  </a:schemeClr>
                </a:solidFill>
                <a:effectLst/>
                <a:latin typeface="Frutiger Neue LT W1G" panose="020B0603040304020203" pitchFamily="34" charset="0"/>
                <a:ea typeface="Times New Roman" panose="02020603050405020304" pitchFamily="18" charset="0"/>
              </a:rPr>
              <a:t>высшего образования </a:t>
            </a:r>
          </a:p>
          <a:p>
            <a:pPr indent="540385" algn="ctr"/>
            <a:r>
              <a:rPr lang="ru-RU" sz="1800" dirty="0">
                <a:solidFill>
                  <a:schemeClr val="bg1">
                    <a:lumMod val="95000"/>
                  </a:schemeClr>
                </a:solidFill>
                <a:effectLst/>
                <a:latin typeface="Frutiger Neue LT W1G" panose="020B0603040304020203" pitchFamily="34" charset="0"/>
                <a:ea typeface="Times New Roman" panose="02020603050405020304" pitchFamily="18" charset="0"/>
              </a:rPr>
              <a:t>«Калининградский государственный технический университет»</a:t>
            </a:r>
          </a:p>
          <a:p>
            <a:pPr indent="540385" algn="ctr"/>
            <a:r>
              <a:rPr lang="ru-RU" sz="1800" dirty="0">
                <a:solidFill>
                  <a:schemeClr val="bg1">
                    <a:lumMod val="95000"/>
                  </a:schemeClr>
                </a:solidFill>
                <a:effectLst/>
                <a:latin typeface="Frutiger Neue LT W1G" panose="020B0603040304020203" pitchFamily="34" charset="0"/>
                <a:ea typeface="Times New Roman" panose="02020603050405020304" pitchFamily="18" charset="0"/>
              </a:rPr>
              <a:t>Институт цифровых технологий</a:t>
            </a:r>
          </a:p>
          <a:p>
            <a:pPr indent="540385" algn="ctr"/>
            <a:r>
              <a:rPr lang="ru-RU" sz="1800" dirty="0">
                <a:solidFill>
                  <a:schemeClr val="bg1">
                    <a:lumMod val="95000"/>
                  </a:schemeClr>
                </a:solidFill>
                <a:effectLst/>
                <a:latin typeface="Frutiger Neue LT W1G" panose="020B0603040304020203" pitchFamily="34" charset="0"/>
                <a:ea typeface="Times New Roman" panose="02020603050405020304" pitchFamily="18" charset="0"/>
              </a:rPr>
              <a:t>Кафедра прикладной информатики</a:t>
            </a:r>
          </a:p>
          <a:p>
            <a:endParaRPr lang="ru-RU" dirty="0">
              <a:solidFill>
                <a:schemeClr val="bg1">
                  <a:lumMod val="95000"/>
                </a:schemeClr>
              </a:solidFill>
              <a:latin typeface="Frutiger Neue LT W1G" panose="020B06030403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855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2000" b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8304DD3-1689-6D50-C7C0-0D2900D51355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6">
              <a:lumMod val="75000"/>
            </a:schemeClr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0" i="0" dirty="0">
                <a:solidFill>
                  <a:schemeClr val="bg1">
                    <a:lumMod val="95000"/>
                  </a:schemeClr>
                </a:solidFill>
                <a:effectLst/>
                <a:latin typeface="quote-cjk-patch"/>
              </a:rPr>
              <a:t>Разработать десктопное приложение для отображения актуальной информации о погоде с возможностью работы в фоновом режиме через системный </a:t>
            </a:r>
            <a:r>
              <a:rPr lang="ru-RU" b="0" i="0" dirty="0" err="1">
                <a:solidFill>
                  <a:schemeClr val="bg1">
                    <a:lumMod val="95000"/>
                  </a:schemeClr>
                </a:solidFill>
                <a:effectLst/>
                <a:latin typeface="quote-cjk-patch"/>
              </a:rPr>
              <a:t>трей</a:t>
            </a:r>
            <a:r>
              <a:rPr lang="ru-RU" b="0" i="0" dirty="0">
                <a:solidFill>
                  <a:schemeClr val="bg1">
                    <a:lumMod val="95000"/>
                  </a:schemeClr>
                </a:solidFill>
                <a:effectLst/>
                <a:latin typeface="quote-cjk-patch"/>
              </a:rPr>
              <a:t> Windows.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chemeClr val="bg1">
                    <a:lumMod val="95000"/>
                  </a:schemeClr>
                </a:solidFill>
                <a:effectLst/>
                <a:latin typeface="quote-cjk-patch"/>
              </a:rPr>
              <a:t>Задачи:</a:t>
            </a:r>
            <a:endParaRPr lang="ru-RU" b="0" i="0" dirty="0">
              <a:solidFill>
                <a:schemeClr val="bg1">
                  <a:lumMod val="95000"/>
                </a:schemeClr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chemeClr val="bg1">
                    <a:lumMod val="95000"/>
                  </a:schemeClr>
                </a:solidFill>
                <a:effectLst/>
                <a:latin typeface="quote-cjk-patch"/>
              </a:rPr>
              <a:t>Реализовать интеграцию с API Яндекс Погоды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chemeClr val="bg1">
                    <a:lumMod val="95000"/>
                  </a:schemeClr>
                </a:solidFill>
                <a:effectLst/>
                <a:latin typeface="quote-cjk-patch"/>
              </a:rPr>
              <a:t>Создать графический интерфейс с отображением часов и метеоданных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chemeClr val="bg1">
                    <a:lumMod val="95000"/>
                  </a:schemeClr>
                </a:solidFill>
                <a:effectLst/>
                <a:latin typeface="quote-cjk-patch"/>
              </a:rPr>
              <a:t>Добавить функцию сворачивания приложения в системный </a:t>
            </a:r>
            <a:r>
              <a:rPr lang="ru-RU" b="0" i="0" dirty="0" err="1">
                <a:solidFill>
                  <a:schemeClr val="bg1">
                    <a:lumMod val="95000"/>
                  </a:schemeClr>
                </a:solidFill>
                <a:effectLst/>
                <a:latin typeface="quote-cjk-patch"/>
              </a:rPr>
              <a:t>трей</a:t>
            </a:r>
            <a:endParaRPr lang="ru-RU" b="0" i="0" dirty="0">
              <a:solidFill>
                <a:schemeClr val="bg1">
                  <a:lumMod val="95000"/>
                </a:schemeClr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chemeClr val="bg1">
                    <a:lumMod val="95000"/>
                  </a:schemeClr>
                </a:solidFill>
                <a:effectLst/>
                <a:latin typeface="quote-cjk-patch"/>
              </a:rPr>
              <a:t>Реализовать сохранение настроек (API ключ, координаты)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chemeClr val="bg1">
                    <a:lumMod val="95000"/>
                  </a:schemeClr>
                </a:solidFill>
                <a:effectLst/>
                <a:latin typeface="quote-cjk-patch"/>
              </a:rPr>
              <a:t>Обеспечить автоматическое обновление погодных данных</a:t>
            </a:r>
            <a:endParaRPr lang="ru-RU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D8353D7F-43C3-64D2-04D1-F3D679FF1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1" dirty="0">
                <a:solidFill>
                  <a:srgbClr val="F9FAFB">
                    <a:alpha val="68000"/>
                  </a:srgbClr>
                </a:solidFill>
                <a:effectLst/>
                <a:latin typeface="quote-cjk-patch"/>
              </a:rPr>
              <a:t>Цель</a:t>
            </a:r>
            <a:r>
              <a:rPr lang="ru-RU" b="1" i="1" dirty="0">
                <a:solidFill>
                  <a:srgbClr val="F9FAFB">
                    <a:alpha val="34000"/>
                  </a:srgbClr>
                </a:solidFill>
                <a:effectLst/>
                <a:latin typeface="quote-cjk-patch"/>
              </a:rPr>
              <a:t> </a:t>
            </a:r>
            <a:r>
              <a:rPr lang="ru-RU" b="1" i="1" dirty="0">
                <a:solidFill>
                  <a:srgbClr val="F9FAFB">
                    <a:alpha val="24000"/>
                  </a:srgbClr>
                </a:solidFill>
                <a:effectLst/>
                <a:latin typeface="quote-cjk-patch"/>
              </a:rPr>
              <a:t>проекта</a:t>
            </a:r>
            <a:endParaRPr lang="ru-RU" i="1" dirty="0">
              <a:solidFill>
                <a:srgbClr val="F9FAFB">
                  <a:alpha val="24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5259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C32551-1E1C-14E0-653B-8B2430211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Стек технологий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1CF7E6-E39F-B308-55BC-69BD668D6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lang="ru-RU" b="1" i="0" dirty="0">
                <a:effectLst/>
                <a:latin typeface="quote-cjk-patch"/>
              </a:rPr>
              <a:t>Язык программирования:</a:t>
            </a:r>
            <a:endParaRPr lang="ru-RU" b="0" i="0" dirty="0"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quote-cjk-patch"/>
              </a:rPr>
              <a:t>Python 3.13.7</a:t>
            </a:r>
          </a:p>
          <a:p>
            <a:pPr marL="0" indent="0" algn="l">
              <a:buNone/>
            </a:pPr>
            <a:r>
              <a:rPr lang="ru-RU" b="1" i="0" dirty="0">
                <a:effectLst/>
                <a:latin typeface="quote-cjk-patch"/>
              </a:rPr>
              <a:t>Библиотеки:</a:t>
            </a:r>
            <a:endParaRPr lang="ru-RU" b="0" i="0" dirty="0"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quote-cjk-patch"/>
              </a:rPr>
              <a:t>PyQt5</a:t>
            </a:r>
            <a:r>
              <a:rPr lang="en-US" b="0" i="0" dirty="0">
                <a:effectLst/>
                <a:latin typeface="quote-cjk-patch"/>
              </a:rPr>
              <a:t> — </a:t>
            </a:r>
            <a:r>
              <a:rPr lang="ru-RU" b="0" i="0" dirty="0">
                <a:effectLst/>
                <a:latin typeface="quote-cjk-patch"/>
              </a:rPr>
              <a:t>создание графического интерфейса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quote-cjk-patch"/>
              </a:rPr>
              <a:t>Requests</a:t>
            </a:r>
            <a:r>
              <a:rPr lang="en-US" b="0" i="0" dirty="0">
                <a:effectLst/>
                <a:latin typeface="quote-cjk-patch"/>
              </a:rPr>
              <a:t> — </a:t>
            </a:r>
            <a:r>
              <a:rPr lang="ru-RU" b="0" i="0" dirty="0">
                <a:effectLst/>
                <a:latin typeface="quote-cjk-patch"/>
              </a:rPr>
              <a:t>работа с </a:t>
            </a:r>
            <a:r>
              <a:rPr lang="en-US" b="0" i="0" dirty="0">
                <a:effectLst/>
                <a:latin typeface="quote-cjk-patch"/>
              </a:rPr>
              <a:t>HTTP-</a:t>
            </a:r>
            <a:r>
              <a:rPr lang="ru-RU" b="0" i="0" dirty="0">
                <a:effectLst/>
                <a:latin typeface="quote-cjk-patch"/>
              </a:rPr>
              <a:t>запросами к </a:t>
            </a:r>
            <a:r>
              <a:rPr lang="en-US" b="0" i="0" dirty="0">
                <a:effectLst/>
                <a:latin typeface="quote-cjk-patch"/>
              </a:rPr>
              <a:t>API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quote-cjk-patch"/>
              </a:rPr>
              <a:t>Threading</a:t>
            </a:r>
            <a:r>
              <a:rPr lang="en-US" b="0" i="0" dirty="0">
                <a:effectLst/>
                <a:latin typeface="quote-cjk-patch"/>
              </a:rPr>
              <a:t> — </a:t>
            </a:r>
            <a:r>
              <a:rPr lang="ru-RU" b="0" i="0" dirty="0">
                <a:effectLst/>
                <a:latin typeface="quote-cjk-patch"/>
              </a:rPr>
              <a:t>многопоточность для фоновых операций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quote-cjk-patch"/>
              </a:rPr>
              <a:t>JSON</a:t>
            </a:r>
            <a:r>
              <a:rPr lang="en-US" b="0" i="0" dirty="0">
                <a:effectLst/>
                <a:latin typeface="quote-cjk-patch"/>
              </a:rPr>
              <a:t> — </a:t>
            </a:r>
            <a:r>
              <a:rPr lang="ru-RU" b="0" i="0" dirty="0">
                <a:effectLst/>
                <a:latin typeface="quote-cjk-patch"/>
              </a:rPr>
              <a:t>сохранение конфигурации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quote-cjk-patch"/>
              </a:rPr>
              <a:t>Datetime</a:t>
            </a:r>
            <a:r>
              <a:rPr lang="en-US" b="0" i="0" dirty="0">
                <a:effectLst/>
                <a:latin typeface="quote-cjk-patch"/>
              </a:rPr>
              <a:t> — </a:t>
            </a:r>
            <a:r>
              <a:rPr lang="ru-RU" b="0" i="0" dirty="0">
                <a:effectLst/>
                <a:latin typeface="quote-cjk-patch"/>
              </a:rPr>
              <a:t>работа со временем</a:t>
            </a:r>
          </a:p>
          <a:p>
            <a:pPr marL="0" indent="0" algn="l">
              <a:buNone/>
            </a:pPr>
            <a:r>
              <a:rPr lang="en-US" b="1" i="0" dirty="0">
                <a:effectLst/>
                <a:latin typeface="quote-cjk-patch"/>
              </a:rPr>
              <a:t>API:</a:t>
            </a:r>
            <a:endParaRPr lang="en-US" b="0" i="0" dirty="0"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Яндекс Погода </a:t>
            </a:r>
            <a:r>
              <a:rPr lang="en-US" b="0" i="0" dirty="0">
                <a:effectLst/>
                <a:latin typeface="quote-cjk-patch"/>
              </a:rPr>
              <a:t>REST API (v2)</a:t>
            </a:r>
          </a:p>
          <a:p>
            <a:endParaRPr lang="ru-RU" dirty="0"/>
          </a:p>
        </p:txBody>
      </p:sp>
      <p:pic>
        <p:nvPicPr>
          <p:cNvPr id="1026" name="Picture 2" descr="Изображение пина-истории">
            <a:extLst>
              <a:ext uri="{FF2B5EF4-FFF2-40B4-BE49-F238E27FC236}">
                <a16:creationId xmlns:a16="http://schemas.microsoft.com/office/drawing/2014/main" id="{E801395C-835D-CE79-0C8F-00D9126772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8175" y="764439"/>
            <a:ext cx="2122371" cy="2122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3818A56-6127-BC22-9491-C854128B82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5560" y="2886810"/>
            <a:ext cx="1779895" cy="1779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Изображение пина-истории">
            <a:extLst>
              <a:ext uri="{FF2B5EF4-FFF2-40B4-BE49-F238E27FC236}">
                <a16:creationId xmlns:a16="http://schemas.microsoft.com/office/drawing/2014/main" id="{652D3A54-EDFD-5C41-329B-0A3A31CC4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802" y="4683327"/>
            <a:ext cx="1628571" cy="1628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237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6AD868-A5B9-217E-7D7A-F74AB8A9F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6" y="134119"/>
            <a:ext cx="10515600" cy="1325563"/>
          </a:xfrm>
        </p:spPr>
        <p:txBody>
          <a:bodyPr/>
          <a:lstStyle/>
          <a:p>
            <a:r>
              <a:rPr lang="ru-RU" b="1" dirty="0">
                <a:solidFill>
                  <a:schemeClr val="bg1">
                    <a:lumMod val="95000"/>
                  </a:schemeClr>
                </a:solidFill>
                <a:effectLst/>
                <a:latin typeface="quote-cjk-patch"/>
              </a:rPr>
              <a:t>Функционал приложения</a:t>
            </a:r>
            <a:br>
              <a:rPr lang="ru-RU" b="1" dirty="0">
                <a:solidFill>
                  <a:schemeClr val="bg1">
                    <a:lumMod val="95000"/>
                  </a:schemeClr>
                </a:solidFill>
                <a:effectLst/>
                <a:latin typeface="quote-cjk-patch"/>
              </a:rPr>
            </a:br>
            <a:endParaRPr lang="ru-RU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459411-E191-5ADD-3757-54D4AA61A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806" y="796900"/>
            <a:ext cx="5437472" cy="4351338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 fontScale="70000" lnSpcReduction="20000"/>
          </a:bodyPr>
          <a:lstStyle/>
          <a:p>
            <a:pPr marL="0" indent="0" algn="l">
              <a:buNone/>
            </a:pPr>
            <a:r>
              <a:rPr lang="ru-RU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Основные возможности:</a:t>
            </a:r>
            <a:endParaRPr lang="ru-RU" b="0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Отображение информации:</a:t>
            </a:r>
            <a:endParaRPr lang="ru-RU" b="0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quote-cjk-patch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Текущее время (обновление каждую секунду)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Температура воздуха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Ощущаемая температура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Погодные условия с эмодзи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Влажность, давление, скорость ветра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УФ-индекс с цветовой индикацией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Дополнительно:</a:t>
            </a:r>
            <a:endParaRPr lang="ru-RU" b="0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quote-cjk-patch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Обновление погоды каждые 5 минут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Сохранение настроек между сеансами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Загрузка данных при запуске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Управление:</a:t>
            </a:r>
            <a:endParaRPr lang="ru-RU" b="0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quote-cjk-patch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Ручное обновление по кнопке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Настройка API ключа и координат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Сворачивание в </a:t>
            </a:r>
            <a:r>
              <a:rPr lang="ru-RU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трей</a:t>
            </a:r>
            <a:endParaRPr lang="ru-RU" b="0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quote-cjk-patch"/>
            </a:endParaRP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8F7331F-3F97-FFA4-D46B-C713D0CAD9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0" y="134119"/>
            <a:ext cx="3326331" cy="418773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97E5640-B167-4E16-E77B-E2B8C4E1DF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4204" y="3742642"/>
            <a:ext cx="3214036" cy="2811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058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B502E7-8E62-186C-1A4C-A6D2C598C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634" y="-132031"/>
            <a:ext cx="6959065" cy="1325563"/>
          </a:xfrm>
        </p:spPr>
        <p:txBody>
          <a:bodyPr/>
          <a:lstStyle/>
          <a:p>
            <a:pPr algn="l"/>
            <a:r>
              <a:rPr lang="ru-RU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Архитектура 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72A257-4BEC-C473-E19B-CCB4610F6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688" y="839804"/>
            <a:ext cx="5005137" cy="5178391"/>
          </a:xfrm>
        </p:spPr>
        <p:txBody>
          <a:bodyPr>
            <a:normAutofit fontScale="70000" lnSpcReduction="20000"/>
          </a:bodyPr>
          <a:lstStyle/>
          <a:p>
            <a:pPr marL="0" indent="0" algn="l">
              <a:buNone/>
            </a:pPr>
            <a:r>
              <a:rPr lang="ru-RU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Компоненты приложения:</a:t>
            </a:r>
            <a:endParaRPr lang="ru-RU" b="0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Модуль получения погоды (</a:t>
            </a:r>
            <a:r>
              <a:rPr lang="ru-RU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WeatherWorker</a:t>
            </a:r>
            <a:r>
              <a:rPr lang="ru-RU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)</a:t>
            </a:r>
            <a:endParaRPr lang="ru-RU" b="0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quote-cjk-patch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Работает в отдельном потоке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Автоматически обновляет данные каждые 5 минут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Обрабатывает ошибки API и сети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Модуль интерфейса (</a:t>
            </a:r>
            <a:r>
              <a:rPr lang="ru-RU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WeatherApp</a:t>
            </a:r>
            <a:r>
              <a:rPr lang="ru-RU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)</a:t>
            </a:r>
            <a:endParaRPr lang="ru-RU" b="0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quote-cjk-patch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Главное окно с отображением данных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Виджет часов с автоматическим обновлением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Системный </a:t>
            </a:r>
            <a:r>
              <a:rPr lang="ru-RU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трей</a:t>
            </a:r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 с контекстным меню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Модуль настроек (</a:t>
            </a:r>
            <a:r>
              <a:rPr lang="ru-RU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SettingsDialog</a:t>
            </a:r>
            <a:r>
              <a:rPr lang="ru-RU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)</a:t>
            </a:r>
            <a:endParaRPr lang="ru-RU" b="0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quote-cjk-patch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Отдельное модальное окно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Сохранение API ключа и координат в JSON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Модуль сохранения конфигурации</a:t>
            </a:r>
            <a:endParaRPr lang="ru-RU" b="0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quote-cjk-patch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Файл </a:t>
            </a:r>
            <a:r>
              <a:rPr lang="ru-RU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weather_config.json</a:t>
            </a:r>
            <a:endParaRPr lang="ru-RU" b="0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quote-cjk-patch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Автозагрузка настроек при запуске</a:t>
            </a:r>
          </a:p>
          <a:p>
            <a:endParaRPr lang="ru-RU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91CDD78-8E2B-39C0-DC3E-F358F791D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5573" y="2165367"/>
            <a:ext cx="5898080" cy="469263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6A5DF7E-C279-E965-7297-545F151C1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2600" y="77453"/>
            <a:ext cx="3861766" cy="3203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378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043FD9-1A62-F15E-B655-52EFBD2D3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Интеграция с API Яндекс Погоды</a:t>
            </a:r>
            <a:br>
              <a:rPr lang="ru-RU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</a:br>
            <a:endParaRPr lang="ru-RU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450FE4-6A2D-41EC-A2FF-A96B74144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0535"/>
            <a:ext cx="5783981" cy="4906428"/>
          </a:xfrm>
        </p:spPr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lang="ru-RU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Получаемые данные:</a:t>
            </a:r>
            <a:endParaRPr lang="ru-RU" b="0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Температура воздуха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Влажность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Атмосферное давление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Скорость ветра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УФ-индекс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Погодные условия (ясно, облачно, дождь, снег)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Ощущаемая температура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Особенности</a:t>
            </a:r>
            <a:r>
              <a:rPr lang="en-US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 API</a:t>
            </a:r>
            <a:r>
              <a:rPr lang="ru-RU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:</a:t>
            </a:r>
            <a:endParaRPr lang="ru-RU" b="0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10000</a:t>
            </a:r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 запросов в сутки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Бесплатный временный тариф</a:t>
            </a:r>
          </a:p>
          <a:p>
            <a:endParaRPr lang="ru-RU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1D35A67-FC3D-2570-A578-E5A5DD56D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2240" y="1590708"/>
            <a:ext cx="4531560" cy="4721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927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875C32-3DC2-90CD-364E-0D8E01340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Работа с системным </a:t>
            </a:r>
            <a:r>
              <a:rPr lang="ru-RU" b="1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треем</a:t>
            </a:r>
            <a:br>
              <a:rPr lang="ru-RU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</a:br>
            <a:endParaRPr lang="ru-RU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1B2A8E-0756-B1EC-4E50-060408EB3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4657"/>
            <a:ext cx="4657825" cy="5012306"/>
          </a:xfrm>
        </p:spPr>
        <p:txBody>
          <a:bodyPr>
            <a:normAutofit fontScale="55000" lnSpcReduction="20000"/>
          </a:bodyPr>
          <a:lstStyle/>
          <a:p>
            <a:pPr marL="0" indent="0" algn="l">
              <a:buNone/>
            </a:pPr>
            <a:r>
              <a:rPr lang="ru-RU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Функции </a:t>
            </a:r>
            <a:r>
              <a:rPr lang="ru-RU" b="1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трея</a:t>
            </a:r>
            <a:r>
              <a:rPr lang="ru-RU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:</a:t>
            </a:r>
            <a:endParaRPr lang="ru-RU" b="0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Иконка приложения в области уведомлений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Контекстное меню с пунктами: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Показать окно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Настройки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Выход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Поведение:</a:t>
            </a:r>
            <a:endParaRPr lang="ru-RU" b="0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При закрытии окна - сворачивается в </a:t>
            </a:r>
            <a:r>
              <a:rPr lang="ru-RU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трей</a:t>
            </a:r>
            <a:endParaRPr lang="ru-RU" b="0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При запуске - окно скрыто, работает в фоне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Двойной клик по иконке - показать/скрыть окно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Всплывающая подсказка с текущей погодой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Преимущества:</a:t>
            </a:r>
            <a:endParaRPr lang="ru-RU" b="0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Не занимает место на панели задач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Постоянно доступно для быстрого просмотра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quote-cjk-patch"/>
              </a:rPr>
              <a:t>Не мешает работе с другими приложениями</a:t>
            </a:r>
          </a:p>
          <a:p>
            <a:endParaRPr lang="ru-RU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978A51C-8B4B-ABC3-4CA2-DE6591F84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251" y="3190726"/>
            <a:ext cx="2099007" cy="136789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4F71346-5B43-4873-DDD5-F1176EC78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251" y="1319060"/>
            <a:ext cx="2208357" cy="166426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E67044F-5B1A-7FCF-E0E9-6C3B9DFF2B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8251" y="4766015"/>
            <a:ext cx="3432683" cy="793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015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977B15-B85B-8642-C396-F964D0C3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0" dirty="0">
                <a:effectLst/>
                <a:latin typeface="quote-cjk-patch"/>
              </a:rPr>
              <a:t>Ссылки:</a:t>
            </a:r>
            <a:br>
              <a:rPr lang="ru-RU" b="0" i="0" dirty="0"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175064-65D6-B85C-DAF5-3AEDB534A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Документация Яндекс Погоды: </a:t>
            </a:r>
            <a:r>
              <a:rPr lang="ru-RU" b="0" i="0" u="none" strike="noStrike" dirty="0">
                <a:effectLst/>
                <a:latin typeface="quote-cjk-patch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https://yandex.ru/dev/weather/</a:t>
            </a:r>
            <a:endParaRPr lang="ru-RU" b="0" i="0" dirty="0"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PyQt5 документация: </a:t>
            </a:r>
            <a:r>
              <a:rPr lang="ru-RU" b="0" i="0" u="none" strike="noStrike" dirty="0">
                <a:effectLst/>
                <a:latin typeface="quote-cjk-patch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https://www.riverbankcomputing.com/static/Docs/PyQt5/</a:t>
            </a:r>
            <a:endParaRPr lang="ru-RU" b="0" i="0" dirty="0"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quote-cjk-patch"/>
              </a:rPr>
              <a:t>GitHub: https://github.com/Fortfoxium/WeatherReport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0881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9A4211-7CAD-E10A-A765-2FE475BA3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7200" i="1" dirty="0">
                <a:solidFill>
                  <a:schemeClr val="bg1"/>
                </a:solidFill>
                <a:latin typeface="Frutiger Neue LT W1G" panose="020B0603040304020203" pitchFamily="34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44523851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450</Words>
  <Application>Microsoft Office PowerPoint</Application>
  <PresentationFormat>Широкоэкранный</PresentationFormat>
  <Paragraphs>93</Paragraphs>
  <Slides>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Frutiger Neue LT W1G</vt:lpstr>
      <vt:lpstr>quote-cjk-patch</vt:lpstr>
      <vt:lpstr>Тема Office</vt:lpstr>
      <vt:lpstr>Работа по дисциплине «Проектный практикум» Разработка программы отслеживания погоды «WeatherReport»</vt:lpstr>
      <vt:lpstr>Цель проекта</vt:lpstr>
      <vt:lpstr>Стек технологий</vt:lpstr>
      <vt:lpstr>Функционал приложения </vt:lpstr>
      <vt:lpstr>Архитектура приложения</vt:lpstr>
      <vt:lpstr>Интеграция с API Яндекс Погоды </vt:lpstr>
      <vt:lpstr>Работа с системным треем </vt:lpstr>
      <vt:lpstr>Ссылки: 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Влад Антипин</dc:creator>
  <cp:lastModifiedBy>Влад Антипин</cp:lastModifiedBy>
  <cp:revision>5</cp:revision>
  <dcterms:created xsi:type="dcterms:W3CDTF">2026-03-30T11:34:17Z</dcterms:created>
  <dcterms:modified xsi:type="dcterms:W3CDTF">2026-03-30T12:46:32Z</dcterms:modified>
</cp:coreProperties>
</file>